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69"/>
  </p:normalViewPr>
  <p:slideViewPr>
    <p:cSldViewPr snapToGrid="0">
      <p:cViewPr>
        <p:scale>
          <a:sx n="153" d="100"/>
          <a:sy n="153" d="100"/>
        </p:scale>
        <p:origin x="40" y="-4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CF0B66-DD6E-38C1-1AE4-98F59BCC3F9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819B5-7B52-F3BB-0E30-94AD2415F98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EE74A42C-136A-3C40-91AF-2D5D4D1A5514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95568A9-745E-3A94-57AC-40653D561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67C847-B77F-4ADF-717E-B0421262DA3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E439B-B4D8-04A9-C21D-D4FBA899210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05323-46D0-53E3-DE3B-B6A2F1ABD5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9140521C-1D00-334F-BEEB-0DC749D6769D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43993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1EB46-D26A-BDAD-3177-224E8B9B3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1C28D-7969-12DD-A381-BDE055861F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DAC50-EB65-4E68-48BA-EE34FB11DD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B0EF6A9-A2E8-974E-87E6-568463B8B47C}" type="slidenum">
              <a:t>1</a:t>
            </a:fld>
            <a:endParaRPr lang="en-C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1C4F-C1C4-2A06-4899-DC082244C0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7F3E8-1BB6-744B-5F49-7353F64592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8E4B-6828-A6CF-CEF6-A51FD489E9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6D0A52-946D-2143-BCF7-6D0BD26F886D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E3540-45A4-FA78-7F74-5145D1DB23D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936A-F1BF-70E0-6BAE-32A3DD7254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B21556-A65D-0E4F-ADD4-44D4458ABF92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879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9AD1-2CEB-3936-DAA3-901FB93118D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09CAB-AFCF-0A5C-5F93-C6595D0C307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2D811-BF87-4E07-F5A6-B4FCCE2BFB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D3BBEA-065B-7B47-8340-CB84AFE71917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315C-0061-D5A9-4636-AF174203B98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7BBA-5D22-B58A-21E4-9C40E92FDC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A673CE-A06F-AB46-9AD0-DA50D6CCE671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831003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4E31-C504-4409-47D7-8014162FD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3D5A3-DDBF-D4F5-3390-5DF6F769F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C5160-7707-1B4F-1A18-BCF49CC036A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BCF243-4C09-6946-9C88-87DBE894DD75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84AF-3E72-FBC3-C308-E72D2C6D98B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E6BF0-F8CB-2B5F-7155-D6C5E0361C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C4F1C5-A60E-9648-8BB1-D5482F3BC9BC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7559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F52C-E1E7-B032-44BF-50F4B92FE4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1802-E004-90BB-4E1E-89494CEEDAD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DA921-DF0F-6CFD-2C65-E3A47D15410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6EB8F-70D0-A36A-77BC-CBBF71373B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A5F631-4542-A54E-9A1E-30CCAF1A4587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DC3B3-94E3-0640-AD77-B9F9C786F2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8E34B-AE6A-55A4-3D8C-E75421838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ACC94D-1CBD-454D-AE95-55A154DF43F3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357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4421-3AA5-5E2F-491A-FCCCB3B8A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BC00-3024-4D92-E08A-C8B13AEA4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E1DE7-9C07-1AA2-73B5-A1ACDEB6788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AE577-7E80-3976-F3FD-27A209C001D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147B4-8DED-E8F4-68CA-3B36EBC1191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840B4-18B1-BA54-5772-6BB2EE12608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9254C5-1D4D-324C-9252-687A33D314AF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06569-B86B-7858-E393-9666B1E22B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9EDE8-AB34-DD54-0319-FFA106C565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4AD7F1-CB7D-2E4A-86BC-A27EA5BB5FA6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6592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03F7-65AF-D4E2-1670-2A81906000D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3A3FC-C42B-E5E4-180E-AE9BA75C8A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2D58F6-07EF-E044-B403-49FF6FA1BC11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F29FF-A06B-2F51-B7D3-7710A44538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AB8D5-9FAC-D8C4-FB12-F8BA6B9713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9A5083-C1A1-BF42-830D-2A3AEEEB7C13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9769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B8959-CBD5-5208-2EA8-3060D06127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FB3DD0-1079-E44A-8750-08AA68500953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0ACDB-52F9-1ED3-25EF-4B592DC932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E580C-4A21-CCD1-D2B5-6F99EC3903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BFF1A1-EC36-3C45-BE97-E451F61E1C97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0990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8B70-9212-896A-4710-3930965DD2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6B57-1D88-5FDF-83FC-9D19010683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DCDBE-EB87-4BE5-AF32-06452951BBA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D43F8-46D9-5244-560C-540E95DE71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AD8BCB-9BB1-BE47-B698-C18F7E1D3025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B3B01-EA78-618E-C48C-6EB34ED1EE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B75FF-CED2-92DE-74E4-2538727DC5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939E66-C5D3-884D-BD06-B1E2985388D9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8955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6657-647C-ACEA-D697-A8F5383B0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16AFEC-33F2-5575-1922-E9ECC43A1D2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CH" sz="3200"/>
            </a:lvl1pPr>
          </a:lstStyle>
          <a:p>
            <a:pPr lvl="0"/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FB872-B150-1A9F-2A93-2AC47812870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6CF95-3ECE-3C5E-7120-1F41CE02B1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6A2981-DB2A-5F49-BC07-8FED34435203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39F13-1FAC-B2A4-706B-4DE5DC65CAD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35399-40F3-D44E-1001-0ED81C87EB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BF8529-E2F2-EE41-8C0D-69E70E42D9A6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241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611E-5B8F-697F-03DF-34242BEA8D6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A7F6F-34C5-77E7-F2CF-D654392929C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4F279-F77F-4C56-88C9-FEE0AF5249C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3F2549-CF40-564E-92BA-C59C13A5D55D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79595-B38A-DA7D-CE34-B299186D71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6729-7F10-BFC2-B579-0AE6269181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4A0C4C-5634-EA4F-8FDC-D9EF94D34B55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20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923CFF-6110-3201-F488-562F03F003D0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C2880-F1F0-B8FF-E182-31B360B61F1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64ADB-222B-ED67-4EDD-5BF9AC5A2B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5259AB-7675-EB4A-A60E-61FD67224B45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47D5C-256C-9AB8-ABE9-39F25612D3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2AB78-DE52-3713-98B9-43A1EE6BDD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79BAA4-B7F3-6648-B564-43968770DADC}" type="slidenum"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9407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EADCD-FE40-36C9-3F0A-1CE195DA0C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45D98-85FE-100F-5E2F-1EB3E1BF0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A5BE-93C9-9048-F784-5C142792E0A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B19F9F4-A81D-2C48-B580-B2D9B1DB1078}" type="datetime1">
              <a:rPr lang="en-CH"/>
              <a:pPr lvl="0"/>
              <a:t>05.11.25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C9F5-1AF5-2256-D35A-484D27DFDEA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4D82-F74F-BE79-231E-30A55D0EEAC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CH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39F7CCA-0FAF-AE45-8227-32B6A2B5F0E9}" type="slidenum">
              <a:t>‹#›</a:t>
            </a:fld>
            <a:endParaRPr lang="en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GB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98F45F8-BD39-B602-CFA1-98440BCE5BA7}"/>
              </a:ext>
            </a:extLst>
          </p:cNvPr>
          <p:cNvSpPr txBox="1"/>
          <p:nvPr/>
        </p:nvSpPr>
        <p:spPr>
          <a:xfrm>
            <a:off x="2244437" y="3700496"/>
            <a:ext cx="7431192" cy="4055279"/>
          </a:xfrm>
          <a:prstGeom prst="rect">
            <a:avLst/>
          </a:prstGeom>
          <a:solidFill>
            <a:schemeClr val="bg1">
              <a:lumMod val="85000"/>
              <a:alpha val="78000"/>
            </a:schemeClr>
          </a:solidFill>
        </p:spPr>
        <p:txBody>
          <a:bodyPr wrap="square" rtlCol="0">
            <a:spAutoFit/>
          </a:bodyPr>
          <a:lstStyle/>
          <a:p>
            <a:endParaRPr lang="en-CH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0D8D504-5DC6-BB8E-AA1D-93F9E0117579}"/>
              </a:ext>
            </a:extLst>
          </p:cNvPr>
          <p:cNvGrpSpPr/>
          <p:nvPr/>
        </p:nvGrpSpPr>
        <p:grpSpPr>
          <a:xfrm>
            <a:off x="7962156" y="1174037"/>
            <a:ext cx="932400" cy="2976185"/>
            <a:chOff x="7868962" y="4807289"/>
            <a:chExt cx="932400" cy="2976185"/>
          </a:xfrm>
        </p:grpSpPr>
        <p:sp>
          <p:nvSpPr>
            <p:cNvPr id="40" name="Down Arrow 69">
              <a:extLst>
                <a:ext uri="{FF2B5EF4-FFF2-40B4-BE49-F238E27FC236}">
                  <a16:creationId xmlns:a16="http://schemas.microsoft.com/office/drawing/2014/main" id="{B173A86E-F235-F939-0616-45B7BB862E9C}"/>
                </a:ext>
              </a:extLst>
            </p:cNvPr>
            <p:cNvSpPr/>
            <p:nvPr/>
          </p:nvSpPr>
          <p:spPr>
            <a:xfrm>
              <a:off x="7868962" y="7057505"/>
              <a:ext cx="932400" cy="725969"/>
            </a:xfrm>
            <a:custGeom>
              <a:avLst>
                <a:gd name="f0" fmla="val 1080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-270"/>
                <a:gd name="f11" fmla="+- 0 0 -90"/>
                <a:gd name="f12" fmla="*/ f5 1 21600"/>
                <a:gd name="f13" fmla="*/ f6 1 21600"/>
                <a:gd name="f14" fmla="pin 0 f1 10800"/>
                <a:gd name="f15" fmla="pin 0 f0 21600"/>
                <a:gd name="f16" fmla="*/ f10 f2 1"/>
                <a:gd name="f17" fmla="*/ f11 f2 1"/>
                <a:gd name="f18" fmla="val f14"/>
                <a:gd name="f19" fmla="val f15"/>
                <a:gd name="f20" fmla="+- 21600 0 f14"/>
                <a:gd name="f21" fmla="*/ f14 f12 1"/>
                <a:gd name="f22" fmla="*/ f15 f13 1"/>
                <a:gd name="f23" fmla="*/ 0 f13 1"/>
                <a:gd name="f24" fmla="*/ 0 f12 1"/>
                <a:gd name="f25" fmla="*/ f16 1 f4"/>
                <a:gd name="f26" fmla="*/ 21600 f12 1"/>
                <a:gd name="f27" fmla="*/ f17 1 f4"/>
                <a:gd name="f28" fmla="+- 21600 0 f19"/>
                <a:gd name="f29" fmla="*/ f18 f12 1"/>
                <a:gd name="f30" fmla="*/ f20 f12 1"/>
                <a:gd name="f31" fmla="*/ f19 f13 1"/>
                <a:gd name="f32" fmla="+- f25 0 f3"/>
                <a:gd name="f33" fmla="+- f27 0 f3"/>
                <a:gd name="f34" fmla="*/ f28 f18 1"/>
                <a:gd name="f35" fmla="*/ f34 1 10800"/>
                <a:gd name="f36" fmla="+- f19 f35 0"/>
                <a:gd name="f37" fmla="*/ f36 f13 1"/>
              </a:gdLst>
              <a:ahLst>
                <a:ahXY gdRefX="f1" minX="f7" maxX="f9" gdRefY="f0" minY="f7" maxY="f8">
                  <a:pos x="f21" y="f22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24" y="f31"/>
                </a:cxn>
                <a:cxn ang="f33">
                  <a:pos x="f26" y="f31"/>
                </a:cxn>
              </a:cxnLst>
              <a:rect l="f29" t="f23" r="f30" b="f37"/>
              <a:pathLst>
                <a:path w="21600" h="21600">
                  <a:moveTo>
                    <a:pt x="f18" y="f7"/>
                  </a:moveTo>
                  <a:lnTo>
                    <a:pt x="f18" y="f19"/>
                  </a:lnTo>
                  <a:lnTo>
                    <a:pt x="f7" y="f19"/>
                  </a:lnTo>
                  <a:lnTo>
                    <a:pt x="f9" y="f8"/>
                  </a:lnTo>
                  <a:lnTo>
                    <a:pt x="f8" y="f19"/>
                  </a:lnTo>
                  <a:lnTo>
                    <a:pt x="f20" y="f19"/>
                  </a:lnTo>
                  <a:lnTo>
                    <a:pt x="f20" y="f7"/>
                  </a:lnTo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vert270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200" b="0" i="0" u="none" strike="noStrike" kern="1200" cap="none" spc="0" baseline="0" dirty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817EFF-D304-CCA9-322C-8986822F5AB5}"/>
                </a:ext>
              </a:extLst>
            </p:cNvPr>
            <p:cNvSpPr txBox="1"/>
            <p:nvPr/>
          </p:nvSpPr>
          <p:spPr>
            <a:xfrm>
              <a:off x="8104256" y="4807289"/>
              <a:ext cx="465514" cy="252000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endParaRPr lang="en-CH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8E72BAB-1280-B147-FC60-FDFA0867DC04}"/>
              </a:ext>
            </a:extLst>
          </p:cNvPr>
          <p:cNvGrpSpPr/>
          <p:nvPr/>
        </p:nvGrpSpPr>
        <p:grpSpPr>
          <a:xfrm>
            <a:off x="7951468" y="5264291"/>
            <a:ext cx="932400" cy="3037379"/>
            <a:chOff x="7861818" y="4760383"/>
            <a:chExt cx="932400" cy="3037379"/>
          </a:xfrm>
        </p:grpSpPr>
        <p:sp>
          <p:nvSpPr>
            <p:cNvPr id="34" name="Down Arrow 69">
              <a:extLst>
                <a:ext uri="{FF2B5EF4-FFF2-40B4-BE49-F238E27FC236}">
                  <a16:creationId xmlns:a16="http://schemas.microsoft.com/office/drawing/2014/main" id="{DAF602C4-8B16-C6D6-5DAF-5A139DCAC106}"/>
                </a:ext>
              </a:extLst>
            </p:cNvPr>
            <p:cNvSpPr/>
            <p:nvPr/>
          </p:nvSpPr>
          <p:spPr>
            <a:xfrm>
              <a:off x="7861818" y="7071793"/>
              <a:ext cx="932400" cy="725969"/>
            </a:xfrm>
            <a:custGeom>
              <a:avLst>
                <a:gd name="f0" fmla="val 1080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-270"/>
                <a:gd name="f11" fmla="+- 0 0 -90"/>
                <a:gd name="f12" fmla="*/ f5 1 21600"/>
                <a:gd name="f13" fmla="*/ f6 1 21600"/>
                <a:gd name="f14" fmla="pin 0 f1 10800"/>
                <a:gd name="f15" fmla="pin 0 f0 21600"/>
                <a:gd name="f16" fmla="*/ f10 f2 1"/>
                <a:gd name="f17" fmla="*/ f11 f2 1"/>
                <a:gd name="f18" fmla="val f14"/>
                <a:gd name="f19" fmla="val f15"/>
                <a:gd name="f20" fmla="+- 21600 0 f14"/>
                <a:gd name="f21" fmla="*/ f14 f12 1"/>
                <a:gd name="f22" fmla="*/ f15 f13 1"/>
                <a:gd name="f23" fmla="*/ 0 f13 1"/>
                <a:gd name="f24" fmla="*/ 0 f12 1"/>
                <a:gd name="f25" fmla="*/ f16 1 f4"/>
                <a:gd name="f26" fmla="*/ 21600 f12 1"/>
                <a:gd name="f27" fmla="*/ f17 1 f4"/>
                <a:gd name="f28" fmla="+- 21600 0 f19"/>
                <a:gd name="f29" fmla="*/ f18 f12 1"/>
                <a:gd name="f30" fmla="*/ f20 f12 1"/>
                <a:gd name="f31" fmla="*/ f19 f13 1"/>
                <a:gd name="f32" fmla="+- f25 0 f3"/>
                <a:gd name="f33" fmla="+- f27 0 f3"/>
                <a:gd name="f34" fmla="*/ f28 f18 1"/>
                <a:gd name="f35" fmla="*/ f34 1 10800"/>
                <a:gd name="f36" fmla="+- f19 f35 0"/>
                <a:gd name="f37" fmla="*/ f36 f13 1"/>
              </a:gdLst>
              <a:ahLst>
                <a:ahXY gdRefX="f1" minX="f7" maxX="f9" gdRefY="f0" minY="f7" maxY="f8">
                  <a:pos x="f21" y="f22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24" y="f31"/>
                </a:cxn>
                <a:cxn ang="f33">
                  <a:pos x="f26" y="f31"/>
                </a:cxn>
              </a:cxnLst>
              <a:rect l="f29" t="f23" r="f30" b="f37"/>
              <a:pathLst>
                <a:path w="21600" h="21600">
                  <a:moveTo>
                    <a:pt x="f18" y="f7"/>
                  </a:moveTo>
                  <a:lnTo>
                    <a:pt x="f18" y="f19"/>
                  </a:lnTo>
                  <a:lnTo>
                    <a:pt x="f7" y="f19"/>
                  </a:lnTo>
                  <a:lnTo>
                    <a:pt x="f9" y="f8"/>
                  </a:lnTo>
                  <a:lnTo>
                    <a:pt x="f8" y="f19"/>
                  </a:lnTo>
                  <a:lnTo>
                    <a:pt x="f20" y="f19"/>
                  </a:lnTo>
                  <a:lnTo>
                    <a:pt x="f20" y="f7"/>
                  </a:lnTo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vert270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200" b="0" i="0" u="none" strike="noStrike" kern="1200" cap="none" spc="0" baseline="0" dirty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C2CF366-68AA-D229-9036-DF508045EC6E}"/>
                </a:ext>
              </a:extLst>
            </p:cNvPr>
            <p:cNvSpPr txBox="1"/>
            <p:nvPr/>
          </p:nvSpPr>
          <p:spPr>
            <a:xfrm>
              <a:off x="8094540" y="4760383"/>
              <a:ext cx="465514" cy="252000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endParaRPr lang="en-CH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3A7FC90-F24A-4764-F679-0C2B046AF060}"/>
              </a:ext>
            </a:extLst>
          </p:cNvPr>
          <p:cNvGrpSpPr/>
          <p:nvPr/>
        </p:nvGrpSpPr>
        <p:grpSpPr>
          <a:xfrm>
            <a:off x="2310057" y="1118749"/>
            <a:ext cx="7392741" cy="2031325"/>
            <a:chOff x="2310057" y="894301"/>
            <a:chExt cx="7392741" cy="2031325"/>
          </a:xfrm>
        </p:grpSpPr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47C75702-380C-873A-D714-61935D56D68D}"/>
                </a:ext>
              </a:extLst>
            </p:cNvPr>
            <p:cNvSpPr txBox="1"/>
            <p:nvPr/>
          </p:nvSpPr>
          <p:spPr>
            <a:xfrm>
              <a:off x="2310057" y="894301"/>
              <a:ext cx="7392741" cy="2031325"/>
            </a:xfrm>
            <a:prstGeom prst="rect">
              <a:avLst/>
            </a:prstGeom>
            <a:solidFill>
              <a:srgbClr val="DCEAF7"/>
            </a:solidFill>
            <a:ln w="57150" cap="flat">
              <a:solidFill>
                <a:srgbClr val="156082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400050" marR="0" lvl="0" indent="-4000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+mj-lt"/>
                <a:buAutoNum type="romanLcPeriod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Respondents’ 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own trade-off evaluations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: 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First-order prior beliefs</a:t>
              </a:r>
            </a:p>
            <a:p>
              <a:pPr marL="400050" marR="0" lvl="0" indent="-4000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+mj-lt"/>
                <a:buAutoNum type="romanLcPeriod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Respondents’ 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expectation of others’ trade-off evaluations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: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</a:t>
              </a:r>
              <a:r>
                <a:rPr lang="en-GB" sz="1400" dirty="0">
                  <a:solidFill>
                    <a:srgbClr val="000000"/>
                  </a:solidFill>
                  <a:latin typeface="Aptos"/>
                </a:rPr>
                <a:t>S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econd-order prior beliefs</a:t>
              </a:r>
            </a:p>
            <a:p>
              <a:pPr marL="400050" marR="0" lvl="0" indent="-4000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+mj-lt"/>
                <a:buAutoNum type="romanLcPeriod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Respondents’ </a:t>
              </a:r>
              <a:r>
                <a:rPr lang="en-GB" sz="1400" b="1" dirty="0">
                  <a:solidFill>
                    <a:srgbClr val="000000"/>
                  </a:solidFill>
                  <a:latin typeface="Aptos"/>
                </a:rPr>
                <a:t>c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onfidence 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in 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stated prior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first- and second-order beliefs</a:t>
              </a:r>
              <a:endPara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Trade-offs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evaluated:</a:t>
              </a:r>
            </a:p>
            <a:p>
              <a:pPr marL="342900" marR="0" lvl="0" indent="-34290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Arial" pitchFamily="34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biodiversity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preservation vs. 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emission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reduction </a:t>
              </a:r>
            </a:p>
            <a:p>
              <a:pPr marL="342900" marR="0" lvl="0" indent="-34290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Arial" pitchFamily="34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landscape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protection vs. </a:t>
              </a: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emissions</a:t>
              </a:r>
              <a:r>
                <a: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reduction</a:t>
              </a:r>
              <a:endParaRPr lang="en-CH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6359E56A-A782-FFAB-8E4C-8A012B27ADCF}"/>
                </a:ext>
              </a:extLst>
            </p:cNvPr>
            <p:cNvSpPr txBox="1"/>
            <p:nvPr/>
          </p:nvSpPr>
          <p:spPr>
            <a:xfrm>
              <a:off x="2310057" y="894301"/>
              <a:ext cx="7392741" cy="369335"/>
            </a:xfrm>
            <a:prstGeom prst="rect">
              <a:avLst/>
            </a:prstGeom>
            <a:solidFill>
              <a:srgbClr val="156082"/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CH" sz="1800" b="1" i="0" u="none" strike="noStrike" kern="1200" cap="none" spc="0" baseline="0" dirty="0" err="1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Step</a:t>
              </a:r>
              <a:r>
                <a:rPr lang="de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1: </a:t>
              </a:r>
              <a:r>
                <a:rPr lang="de-CH" sz="1800" b="1" i="0" u="none" strike="noStrike" kern="1200" cap="none" spc="0" baseline="0" dirty="0" err="1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Eliciting</a:t>
              </a:r>
              <a:r>
                <a:rPr lang="en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beliefs</a:t>
              </a:r>
              <a:r>
                <a:rPr lang="de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</a:t>
              </a:r>
              <a:r>
                <a:rPr lang="de-CH" sz="1800" b="1" i="0" u="none" strike="noStrike" kern="1200" cap="none" spc="0" baseline="0" dirty="0" err="1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before</a:t>
              </a:r>
              <a:r>
                <a:rPr lang="de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</a:t>
              </a:r>
              <a:r>
                <a:rPr lang="de-CH" sz="1800" b="1" i="0" u="none" strike="noStrike" kern="1200" cap="none" spc="0" baseline="0" dirty="0" err="1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treatment</a:t>
              </a:r>
              <a:r>
                <a:rPr lang="de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(</a:t>
              </a:r>
              <a:r>
                <a:rPr lang="de-CH" sz="1800" b="1" i="0" u="none" strike="noStrike" kern="1200" cap="none" spc="0" baseline="0" dirty="0" err="1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prior</a:t>
              </a:r>
              <a:r>
                <a:rPr lang="de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 beliefs)</a:t>
              </a:r>
              <a:endParaRPr lang="en-CH" sz="1800" b="0" i="0" u="none" strike="noStrike" kern="1200" cap="none" spc="0" baseline="0" dirty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endParaRPr>
            </a:p>
          </p:txBody>
        </p:sp>
      </p:grpSp>
      <p:sp>
        <p:nvSpPr>
          <p:cNvPr id="5" name="Down Arrow 23">
            <a:extLst>
              <a:ext uri="{FF2B5EF4-FFF2-40B4-BE49-F238E27FC236}">
                <a16:creationId xmlns:a16="http://schemas.microsoft.com/office/drawing/2014/main" id="{10CA2677-16AE-4439-EE7D-FF1ED332D3C8}"/>
              </a:ext>
            </a:extLst>
          </p:cNvPr>
          <p:cNvSpPr/>
          <p:nvPr/>
        </p:nvSpPr>
        <p:spPr>
          <a:xfrm>
            <a:off x="3156326" y="3169977"/>
            <a:ext cx="931865" cy="725969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156082"/>
          </a:solidFill>
          <a:ln cap="flat">
            <a:noFill/>
            <a:prstDash val="solid"/>
          </a:ln>
        </p:spPr>
        <p:txBody>
          <a:bodyPr vert="vert270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CH" sz="1200" b="0" i="0" u="none" strike="noStrike" kern="1200" cap="none" spc="0" baseline="0">
              <a:solidFill>
                <a:srgbClr val="FFFFFF"/>
              </a:solidFill>
              <a:uFillTx/>
              <a:latin typeface="CMU Sans Serif Medium" pitchFamily="2"/>
              <a:ea typeface="CMU Sans Serif Medium" pitchFamily="2"/>
              <a:cs typeface="CMU Sans Serif Medium" pitchFamily="2"/>
            </a:endParaRPr>
          </a:p>
        </p:txBody>
      </p:sp>
      <p:sp>
        <p:nvSpPr>
          <p:cNvPr id="7" name="TextBox 33">
            <a:extLst>
              <a:ext uri="{FF2B5EF4-FFF2-40B4-BE49-F238E27FC236}">
                <a16:creationId xmlns:a16="http://schemas.microsoft.com/office/drawing/2014/main" id="{DD5C37BC-35B3-E7F5-C568-CF9849FBBCA8}"/>
              </a:ext>
            </a:extLst>
          </p:cNvPr>
          <p:cNvSpPr txBox="1"/>
          <p:nvPr/>
        </p:nvSpPr>
        <p:spPr>
          <a:xfrm>
            <a:off x="2202493" y="587570"/>
            <a:ext cx="7834641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CH" b="1" i="0" strike="noStrike" kern="1200" cap="none" spc="0" baseline="0" dirty="0">
                <a:solidFill>
                  <a:srgbClr val="000000"/>
                </a:solidFill>
                <a:uFillTx/>
                <a:ea typeface="CMU Sans Serif Medium" pitchFamily="2"/>
                <a:cs typeface="CMU Sans Serif Medium" pitchFamily="2"/>
              </a:rPr>
              <a:t>Belief-updating experiment of perceived renewable energy trade-offs</a:t>
            </a:r>
          </a:p>
        </p:txBody>
      </p:sp>
      <p:grpSp>
        <p:nvGrpSpPr>
          <p:cNvPr id="15" name="Group 82">
            <a:extLst>
              <a:ext uri="{FF2B5EF4-FFF2-40B4-BE49-F238E27FC236}">
                <a16:creationId xmlns:a16="http://schemas.microsoft.com/office/drawing/2014/main" id="{21AC0B41-43B7-452C-E770-3C2F37D9836D}"/>
              </a:ext>
            </a:extLst>
          </p:cNvPr>
          <p:cNvGrpSpPr/>
          <p:nvPr/>
        </p:nvGrpSpPr>
        <p:grpSpPr>
          <a:xfrm>
            <a:off x="2282845" y="7563400"/>
            <a:ext cx="7392741" cy="2371511"/>
            <a:chOff x="2282845" y="6399175"/>
            <a:chExt cx="7392741" cy="2371511"/>
          </a:xfrm>
        </p:grpSpPr>
        <p:sp>
          <p:nvSpPr>
            <p:cNvPr id="16" name="Down Arrow 69">
              <a:extLst>
                <a:ext uri="{FF2B5EF4-FFF2-40B4-BE49-F238E27FC236}">
                  <a16:creationId xmlns:a16="http://schemas.microsoft.com/office/drawing/2014/main" id="{8B8AFC2B-EBC7-A349-610A-5D1B9354BBD1}"/>
                </a:ext>
              </a:extLst>
            </p:cNvPr>
            <p:cNvSpPr/>
            <p:nvPr/>
          </p:nvSpPr>
          <p:spPr>
            <a:xfrm>
              <a:off x="3194439" y="6399175"/>
              <a:ext cx="931865" cy="725969"/>
            </a:xfrm>
            <a:custGeom>
              <a:avLst>
                <a:gd name="f0" fmla="val 1080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-270"/>
                <a:gd name="f11" fmla="+- 0 0 -90"/>
                <a:gd name="f12" fmla="*/ f5 1 21600"/>
                <a:gd name="f13" fmla="*/ f6 1 21600"/>
                <a:gd name="f14" fmla="pin 0 f1 10800"/>
                <a:gd name="f15" fmla="pin 0 f0 21600"/>
                <a:gd name="f16" fmla="*/ f10 f2 1"/>
                <a:gd name="f17" fmla="*/ f11 f2 1"/>
                <a:gd name="f18" fmla="val f14"/>
                <a:gd name="f19" fmla="val f15"/>
                <a:gd name="f20" fmla="+- 21600 0 f14"/>
                <a:gd name="f21" fmla="*/ f14 f12 1"/>
                <a:gd name="f22" fmla="*/ f15 f13 1"/>
                <a:gd name="f23" fmla="*/ 0 f13 1"/>
                <a:gd name="f24" fmla="*/ 0 f12 1"/>
                <a:gd name="f25" fmla="*/ f16 1 f4"/>
                <a:gd name="f26" fmla="*/ 21600 f12 1"/>
                <a:gd name="f27" fmla="*/ f17 1 f4"/>
                <a:gd name="f28" fmla="+- 21600 0 f19"/>
                <a:gd name="f29" fmla="*/ f18 f12 1"/>
                <a:gd name="f30" fmla="*/ f20 f12 1"/>
                <a:gd name="f31" fmla="*/ f19 f13 1"/>
                <a:gd name="f32" fmla="+- f25 0 f3"/>
                <a:gd name="f33" fmla="+- f27 0 f3"/>
                <a:gd name="f34" fmla="*/ f28 f18 1"/>
                <a:gd name="f35" fmla="*/ f34 1 10800"/>
                <a:gd name="f36" fmla="+- f19 f35 0"/>
                <a:gd name="f37" fmla="*/ f36 f13 1"/>
              </a:gdLst>
              <a:ahLst>
                <a:ahXY gdRefX="f1" minX="f7" maxX="f9" gdRefY="f0" minY="f7" maxY="f8">
                  <a:pos x="f21" y="f22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24" y="f31"/>
                </a:cxn>
                <a:cxn ang="f33">
                  <a:pos x="f26" y="f31"/>
                </a:cxn>
              </a:cxnLst>
              <a:rect l="f29" t="f23" r="f30" b="f37"/>
              <a:pathLst>
                <a:path w="21600" h="21600">
                  <a:moveTo>
                    <a:pt x="f18" y="f7"/>
                  </a:moveTo>
                  <a:lnTo>
                    <a:pt x="f18" y="f19"/>
                  </a:lnTo>
                  <a:lnTo>
                    <a:pt x="f7" y="f19"/>
                  </a:lnTo>
                  <a:lnTo>
                    <a:pt x="f9" y="f8"/>
                  </a:lnTo>
                  <a:lnTo>
                    <a:pt x="f8" y="f19"/>
                  </a:lnTo>
                  <a:lnTo>
                    <a:pt x="f20" y="f19"/>
                  </a:lnTo>
                  <a:lnTo>
                    <a:pt x="f20" y="f7"/>
                  </a:lnTo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vert270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200" b="0" i="0" u="none" strike="noStrike" kern="1200" cap="none" spc="0" baseline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endParaRPr>
            </a:p>
          </p:txBody>
        </p:sp>
        <p:grpSp>
          <p:nvGrpSpPr>
            <p:cNvPr id="18" name="Group 73">
              <a:extLst>
                <a:ext uri="{FF2B5EF4-FFF2-40B4-BE49-F238E27FC236}">
                  <a16:creationId xmlns:a16="http://schemas.microsoft.com/office/drawing/2014/main" id="{0401CA5C-784C-1844-E434-2D3476D38680}"/>
                </a:ext>
              </a:extLst>
            </p:cNvPr>
            <p:cNvGrpSpPr/>
            <p:nvPr/>
          </p:nvGrpSpPr>
          <p:grpSpPr>
            <a:xfrm>
              <a:off x="2282845" y="7170249"/>
              <a:ext cx="7392741" cy="1600437"/>
              <a:chOff x="2282845" y="7170249"/>
              <a:chExt cx="7392741" cy="1600437"/>
            </a:xfrm>
          </p:grpSpPr>
          <p:sp>
            <p:nvSpPr>
              <p:cNvPr id="19" name="TextBox 74">
                <a:extLst>
                  <a:ext uri="{FF2B5EF4-FFF2-40B4-BE49-F238E27FC236}">
                    <a16:creationId xmlns:a16="http://schemas.microsoft.com/office/drawing/2014/main" id="{E968E739-E0FD-274D-EFED-AA9AB2A366F6}"/>
                  </a:ext>
                </a:extLst>
              </p:cNvPr>
              <p:cNvSpPr txBox="1"/>
              <p:nvPr/>
            </p:nvSpPr>
            <p:spPr>
              <a:xfrm>
                <a:off x="2282845" y="7170249"/>
                <a:ext cx="7392741" cy="1600437"/>
              </a:xfrm>
              <a:prstGeom prst="rect">
                <a:avLst/>
              </a:prstGeom>
              <a:solidFill>
                <a:srgbClr val="DCEAF7"/>
              </a:solidFill>
              <a:ln w="57150" cap="flat">
                <a:solidFill>
                  <a:srgbClr val="15608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CH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endParaRPr>
              </a:p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CH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endParaRPr>
              </a:p>
              <a:p>
                <a:pPr marL="342900" marR="0" lvl="0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+mj-lt"/>
                  <a:buAutoNum type="alphaLcParenR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CH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Support </a:t>
                </a:r>
                <a:r>
                  <a:rPr lang="de-CH" sz="1400" b="1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or</a:t>
                </a:r>
                <a:r>
                  <a:rPr lang="de-CH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:r>
                  <a:rPr lang="de-CH" sz="1400" b="1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opposition</a:t>
                </a:r>
                <a:r>
                  <a:rPr lang="de-CH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:r>
                  <a:rPr lang="de-CH" sz="1400" b="0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to</a:t>
                </a:r>
                <a:r>
                  <a:rPr lang="de-CH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:r>
                  <a:rPr lang="de-CH" sz="1400" b="0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renewable</a:t>
                </a:r>
                <a:r>
                  <a:rPr lang="de-CH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:r>
                  <a:rPr lang="de-CH" sz="1400" b="0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energy</a:t>
                </a:r>
                <a:r>
                  <a:rPr lang="de-CH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 </a:t>
                </a:r>
                <a:r>
                  <a:rPr lang="de-CH" sz="1400" b="0" i="0" u="none" strike="noStrike" kern="1200" cap="none" spc="0" baseline="0" dirty="0" err="1">
                    <a:solidFill>
                      <a:srgbClr val="000000"/>
                    </a:solidFill>
                    <a:uFillTx/>
                    <a:latin typeface="Aptos"/>
                  </a:rPr>
                  <a:t>technologies</a:t>
                </a:r>
                <a:endParaRPr lang="de-CH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endParaRPr>
              </a:p>
              <a:p>
                <a:pPr marL="800100" marR="0" lvl="1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Alpine PV</a:t>
                </a:r>
              </a:p>
              <a:p>
                <a:pPr marL="800100" marR="0" lvl="1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Wind</a:t>
                </a:r>
              </a:p>
              <a:p>
                <a:pPr marL="800100" marR="0" lvl="1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New nuclear energy </a:t>
                </a:r>
              </a:p>
              <a:p>
                <a:pPr marL="800100" marR="0" lvl="1" indent="-34290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ct val="100000"/>
                  <a:buFont typeface="Arial" pitchFamily="34"/>
                  <a:buChar char="•"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i="0" u="none" strike="noStrike" kern="1200" cap="none" spc="0" baseline="0" dirty="0">
                    <a:solidFill>
                      <a:srgbClr val="000000"/>
                    </a:solidFill>
                    <a:uFillTx/>
                    <a:latin typeface="Aptos"/>
                  </a:rPr>
                  <a:t>Prolonged nuclear energy</a:t>
                </a:r>
                <a:endParaRPr lang="en-GB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20" name="TextBox 79">
                <a:extLst>
                  <a:ext uri="{FF2B5EF4-FFF2-40B4-BE49-F238E27FC236}">
                    <a16:creationId xmlns:a16="http://schemas.microsoft.com/office/drawing/2014/main" id="{79E05B4A-CEF5-5395-0EB0-AE749D0E2F89}"/>
                  </a:ext>
                </a:extLst>
              </p:cNvPr>
              <p:cNvSpPr txBox="1"/>
              <p:nvPr/>
            </p:nvSpPr>
            <p:spPr>
              <a:xfrm>
                <a:off x="2282845" y="7170249"/>
                <a:ext cx="7392741" cy="369335"/>
              </a:xfrm>
              <a:prstGeom prst="rect">
                <a:avLst/>
              </a:prstGeom>
              <a:solidFill>
                <a:srgbClr val="156082"/>
              </a:solidFill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de-CH" sz="1800" b="1" i="0" u="none" strike="noStrike" kern="1200" cap="none" spc="0" baseline="0" dirty="0" err="1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Step</a:t>
                </a:r>
                <a:r>
                  <a:rPr lang="de-CH" sz="1800" b="1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 3: </a:t>
                </a:r>
                <a:r>
                  <a:rPr lang="de-CH" sz="1800" b="1" i="0" u="none" strike="noStrike" kern="1200" cap="none" spc="0" baseline="0" dirty="0" err="1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Eliciting</a:t>
                </a:r>
                <a:r>
                  <a:rPr lang="de-CH" sz="1800" b="1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 support </a:t>
                </a:r>
                <a:r>
                  <a:rPr lang="de-CH" sz="1800" b="1" i="0" u="none" strike="noStrike" kern="1200" cap="none" spc="0" baseline="0" dirty="0" err="1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for</a:t>
                </a:r>
                <a:r>
                  <a:rPr lang="en-CH" sz="1800" b="1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 energy technolo</a:t>
                </a:r>
                <a:r>
                  <a:rPr lang="de-CH" sz="1800" b="1" i="0" u="none" strike="noStrike" kern="1200" cap="none" spc="0" baseline="0" dirty="0" err="1">
                    <a:solidFill>
                      <a:srgbClr val="FFFFFF"/>
                    </a:solidFill>
                    <a:uFillTx/>
                    <a:latin typeface="CMU Sans Serif Medium" pitchFamily="2"/>
                    <a:ea typeface="CMU Sans Serif Medium" pitchFamily="2"/>
                    <a:cs typeface="CMU Sans Serif Medium" pitchFamily="2"/>
                  </a:rPr>
                  <a:t>gies</a:t>
                </a:r>
                <a:endParaRPr lang="en-CH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endParaRPr>
              </a:p>
            </p:txBody>
          </p:sp>
        </p:grpSp>
      </p:grpSp>
      <p:sp>
        <p:nvSpPr>
          <p:cNvPr id="21" name="TextBox 49">
            <a:extLst>
              <a:ext uri="{FF2B5EF4-FFF2-40B4-BE49-F238E27FC236}">
                <a16:creationId xmlns:a16="http://schemas.microsoft.com/office/drawing/2014/main" id="{2699D959-B4FE-10D0-CAD6-7505C4FF9696}"/>
              </a:ext>
            </a:extLst>
          </p:cNvPr>
          <p:cNvSpPr txBox="1"/>
          <p:nvPr/>
        </p:nvSpPr>
        <p:spPr>
          <a:xfrm>
            <a:off x="2459130" y="4212319"/>
            <a:ext cx="3443036" cy="33239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 cap="flat">
            <a:solidFill>
              <a:schemeClr val="accent5">
                <a:lumMod val="75000"/>
              </a:schemeClr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CH" sz="1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CH" sz="1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400050" marR="0" lvl="0" indent="-4000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roman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Aptos"/>
              </a:rPr>
              <a:t>E</a:t>
            </a:r>
            <a:r>
              <a:rPr lang="en-CH" sz="1400" dirty="0">
                <a:solidFill>
                  <a:srgbClr val="000000"/>
                </a:solidFill>
                <a:latin typeface="Aptos"/>
              </a:rPr>
              <a:t>xperimental </a:t>
            </a:r>
            <a:r>
              <a:rPr lang="en-CH" sz="1400" b="1" dirty="0">
                <a:solidFill>
                  <a:srgbClr val="000000"/>
                </a:solidFill>
                <a:latin typeface="Aptos"/>
              </a:rPr>
              <a:t>treatment: T</a:t>
            </a:r>
            <a:r>
              <a:rPr lang="en-CH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rue population-wide </a:t>
            </a: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trade-off evaluations</a:t>
            </a:r>
            <a:r>
              <a:rPr lang="en-GB" sz="140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from the SURE survey; actual </a:t>
            </a:r>
            <a:r>
              <a:rPr lang="en-GB" sz="1400" dirty="0">
                <a:solidFill>
                  <a:srgbClr val="000000"/>
                </a:solidFill>
                <a:latin typeface="Aptos"/>
              </a:rPr>
              <a:t>s</a:t>
            </a:r>
            <a:r>
              <a:rPr lang="en-GB" sz="140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econd-order </a:t>
            </a:r>
            <a:r>
              <a:rPr lang="en-GB" sz="1400" dirty="0">
                <a:solidFill>
                  <a:srgbClr val="000000"/>
                </a:solidFill>
                <a:latin typeface="Aptos"/>
              </a:rPr>
              <a:t>beliefs</a:t>
            </a:r>
            <a:endParaRPr lang="en-CH" sz="140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400050" indent="-400050">
              <a:buSzPct val="100000"/>
              <a:buFont typeface="+mj-lt"/>
              <a:buAutoNum type="romanL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Respondents’ </a:t>
            </a: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own trade-off evaluations after the treatment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</a:t>
            </a:r>
            <a:r>
              <a:rPr lang="en-GB" sz="1400" dirty="0">
                <a:solidFill>
                  <a:srgbClr val="000000"/>
                </a:solidFill>
                <a:latin typeface="Aptos"/>
              </a:rPr>
              <a:t>F</a:t>
            </a:r>
            <a:r>
              <a:rPr lang="en-GB" sz="140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irst-order</a:t>
            </a:r>
            <a:r>
              <a:rPr lang="en-CH" sz="140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posterior beliefs</a:t>
            </a:r>
          </a:p>
          <a:p>
            <a:pPr marL="342900" indent="-342900">
              <a:buSzPct val="100000"/>
              <a:buFont typeface="+mj-lt"/>
              <a:buAutoNum type="romanL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Trade-offs 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evaluated: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biodiversity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preservation vs. </a:t>
            </a: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emission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reduction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landscape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protection vs. </a:t>
            </a:r>
            <a:r>
              <a:rPr lang="en-GB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emissions</a:t>
            </a: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 reduction</a:t>
            </a:r>
            <a:endParaRPr lang="en-CH" sz="1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Box 51">
            <a:extLst>
              <a:ext uri="{FF2B5EF4-FFF2-40B4-BE49-F238E27FC236}">
                <a16:creationId xmlns:a16="http://schemas.microsoft.com/office/drawing/2014/main" id="{34858170-B218-A0AD-8C15-8F9470DA307A}"/>
              </a:ext>
            </a:extLst>
          </p:cNvPr>
          <p:cNvSpPr txBox="1"/>
          <p:nvPr/>
        </p:nvSpPr>
        <p:spPr>
          <a:xfrm>
            <a:off x="2459130" y="4212319"/>
            <a:ext cx="3443036" cy="369335"/>
          </a:xfrm>
          <a:prstGeom prst="rect">
            <a:avLst/>
          </a:prstGeom>
          <a:solidFill>
            <a:schemeClr val="accent5">
              <a:lumMod val="75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CH" sz="1800" b="1" i="0" u="none" strike="noStrike" kern="1200" cap="none" spc="0" baseline="0" dirty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Treatment group</a:t>
            </a:r>
            <a:endParaRPr lang="en-CH" sz="1800" b="0" i="0" u="none" strike="noStrike" kern="1200" cap="none" spc="0" baseline="0" dirty="0">
              <a:solidFill>
                <a:srgbClr val="FFFFFF"/>
              </a:solidFill>
              <a:uFillTx/>
              <a:latin typeface="CMU Sans Serif Medium" pitchFamily="2"/>
              <a:ea typeface="CMU Sans Serif Medium" pitchFamily="2"/>
              <a:cs typeface="CMU Sans Serif Medium" pitchFamily="2"/>
            </a:endParaRPr>
          </a:p>
        </p:txBody>
      </p:sp>
      <p:grpSp>
        <p:nvGrpSpPr>
          <p:cNvPr id="23" name="Group 57">
            <a:extLst>
              <a:ext uri="{FF2B5EF4-FFF2-40B4-BE49-F238E27FC236}">
                <a16:creationId xmlns:a16="http://schemas.microsoft.com/office/drawing/2014/main" id="{E478C1F3-2119-183B-985F-C8854819C73E}"/>
              </a:ext>
            </a:extLst>
          </p:cNvPr>
          <p:cNvGrpSpPr/>
          <p:nvPr/>
        </p:nvGrpSpPr>
        <p:grpSpPr>
          <a:xfrm>
            <a:off x="6097997" y="4212328"/>
            <a:ext cx="3443036" cy="1384995"/>
            <a:chOff x="6259762" y="3957148"/>
            <a:chExt cx="3443036" cy="1384995"/>
          </a:xfrm>
        </p:grpSpPr>
        <p:sp>
          <p:nvSpPr>
            <p:cNvPr id="24" name="TextBox 59">
              <a:extLst>
                <a:ext uri="{FF2B5EF4-FFF2-40B4-BE49-F238E27FC236}">
                  <a16:creationId xmlns:a16="http://schemas.microsoft.com/office/drawing/2014/main" id="{76FF2B94-EB2E-BB1A-E3FD-E5DEF497A1B1}"/>
                </a:ext>
              </a:extLst>
            </p:cNvPr>
            <p:cNvSpPr txBox="1"/>
            <p:nvPr/>
          </p:nvSpPr>
          <p:spPr>
            <a:xfrm>
              <a:off x="6259762" y="3957148"/>
              <a:ext cx="3443036" cy="13849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 cap="flat">
              <a:solidFill>
                <a:schemeClr val="accent5">
                  <a:lumMod val="75000"/>
                </a:schemeClr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CH" sz="14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  <a:p>
              <a:pPr marL="342900" marR="0" lvl="0" indent="-34290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+mj-lt"/>
                <a:buAutoNum type="alphaLcParenR" startAt="3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N</a:t>
              </a:r>
              <a:r>
                <a:rPr lang="en-CH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o add</a:t>
              </a:r>
              <a:r>
                <a:rPr lang="en-GB" sz="1400" b="1" i="0" u="none" strike="noStrike" kern="1200" cap="none" spc="0" baseline="0" dirty="0" err="1">
                  <a:solidFill>
                    <a:srgbClr val="000000"/>
                  </a:solidFill>
                  <a:uFillTx/>
                  <a:latin typeface="Aptos"/>
                </a:rPr>
                <a:t>i</a:t>
              </a:r>
              <a:r>
                <a:rPr lang="en-CH" sz="1400" b="1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tional information; </a:t>
              </a:r>
              <a:r>
                <a:rPr lang="en-CH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repeated </a:t>
              </a:r>
              <a:r>
                <a:rPr lang="en-GB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their own</a:t>
              </a:r>
              <a:r>
                <a:rPr lang="en-CH" sz="1400" i="0" u="none" strike="noStrike" kern="1200" cap="none" spc="0" baseline="0" dirty="0">
                  <a:solidFill>
                    <a:srgbClr val="000000"/>
                  </a:solidFill>
                  <a:uFillTx/>
                  <a:latin typeface="Aptos"/>
                </a:rPr>
                <a:t> second-order beliefs to keep the information equally salient as in the treatment group</a:t>
              </a:r>
              <a:endParaRPr lang="en-CH" sz="14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5" name="TextBox 60">
              <a:extLst>
                <a:ext uri="{FF2B5EF4-FFF2-40B4-BE49-F238E27FC236}">
                  <a16:creationId xmlns:a16="http://schemas.microsoft.com/office/drawing/2014/main" id="{4EF8CB74-919E-2E1B-73A9-2878C7513CCD}"/>
                </a:ext>
              </a:extLst>
            </p:cNvPr>
            <p:cNvSpPr txBox="1"/>
            <p:nvPr/>
          </p:nvSpPr>
          <p:spPr>
            <a:xfrm>
              <a:off x="6259762" y="3957148"/>
              <a:ext cx="3443036" cy="36933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CH" sz="1800" b="1" i="0" u="none" strike="noStrike" kern="1200" cap="none" spc="0" baseline="0" dirty="0">
                  <a:solidFill>
                    <a:srgbClr val="FFFFFF"/>
                  </a:solidFill>
                  <a:uFillTx/>
                  <a:latin typeface="CMU Sans Serif Medium" pitchFamily="2"/>
                  <a:ea typeface="CMU Sans Serif Medium" pitchFamily="2"/>
                  <a:cs typeface="CMU Sans Serif Medium" pitchFamily="2"/>
                </a:rPr>
                <a:t>Control group</a:t>
              </a:r>
              <a:endParaRPr lang="en-CH" sz="1800" b="0" i="0" u="none" strike="noStrike" kern="1200" cap="none" spc="0" baseline="0" dirty="0">
                <a:solidFill>
                  <a:srgbClr val="FFFFFF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5918BD4-93AB-9188-7ECA-C02D1777462E}"/>
              </a:ext>
            </a:extLst>
          </p:cNvPr>
          <p:cNvSpPr txBox="1"/>
          <p:nvPr/>
        </p:nvSpPr>
        <p:spPr>
          <a:xfrm>
            <a:off x="2413591" y="3777343"/>
            <a:ext cx="518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Step 2: Experimental treatment and control groups</a:t>
            </a: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07BE5E74-3F52-19CB-3C62-A6295B106C5B}"/>
              </a:ext>
            </a:extLst>
          </p:cNvPr>
          <p:cNvSpPr txBox="1"/>
          <p:nvPr/>
        </p:nvSpPr>
        <p:spPr>
          <a:xfrm>
            <a:off x="4307976" y="3218853"/>
            <a:ext cx="4565096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sz="1400" b="1" i="0" u="none" strike="noStrike" kern="1200" cap="none" spc="0" baseline="0" dirty="0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Random </a:t>
            </a:r>
            <a:r>
              <a:rPr lang="de-CH" sz="1400" b="1" i="0" u="none" strike="noStrike" kern="1200" cap="none" spc="0" baseline="0" dirty="0" err="1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assignment</a:t>
            </a:r>
            <a:r>
              <a:rPr lang="de-CH" sz="1400" b="1" i="0" u="none" strike="noStrike" kern="1200" cap="none" spc="0" baseline="0" dirty="0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 </a:t>
            </a:r>
            <a:r>
              <a:rPr lang="de-CH" sz="1400" b="0" i="0" u="none" strike="noStrike" kern="1200" cap="none" spc="0" baseline="0" dirty="0" err="1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with</a:t>
            </a:r>
            <a:r>
              <a:rPr lang="de-CH" sz="1400" b="0" i="0" u="none" strike="noStrike" kern="1200" cap="none" spc="0" baseline="0" dirty="0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 50% </a:t>
            </a:r>
            <a:r>
              <a:rPr lang="de-CH" sz="1400" b="0" i="0" u="none" strike="noStrike" kern="1200" cap="none" spc="0" baseline="0" dirty="0" err="1">
                <a:solidFill>
                  <a:srgbClr val="747474"/>
                </a:solidFill>
                <a:uFillTx/>
                <a:latin typeface="CMU Sans Serif Medium" pitchFamily="2"/>
                <a:ea typeface="CMU Sans Serif Medium" pitchFamily="2"/>
                <a:cs typeface="CMU Sans Serif Medium" pitchFamily="2"/>
              </a:rPr>
              <a:t>probability</a:t>
            </a:r>
            <a:endParaRPr lang="en-CH" sz="1400" b="0" i="0" u="none" strike="noStrike" kern="1200" cap="none" spc="0" baseline="0" dirty="0">
              <a:solidFill>
                <a:srgbClr val="747474"/>
              </a:solidFill>
              <a:uFillTx/>
              <a:latin typeface="CMU Sans Serif Medium" pitchFamily="2"/>
              <a:ea typeface="CMU Sans Serif Medium" pitchFamily="2"/>
              <a:cs typeface="CMU Sans Serif Medium" pitchFamily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5094</TotalTime>
  <Words>174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Sans Serif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Andres Montfort</dc:creator>
  <cp:lastModifiedBy>Simon Andres Montfort</cp:lastModifiedBy>
  <cp:revision>55</cp:revision>
  <cp:lastPrinted>2025-11-05T13:24:58Z</cp:lastPrinted>
  <dcterms:created xsi:type="dcterms:W3CDTF">2025-11-02T21:58:10Z</dcterms:created>
  <dcterms:modified xsi:type="dcterms:W3CDTF">2025-11-07T07:48:06Z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0x0101002A2D77D7E972E34C837CC973A52FFE09</vt:lpwstr>
  </property>
</Properties>
</file>